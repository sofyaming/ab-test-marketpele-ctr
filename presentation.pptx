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</p:sldIdLst>
  <p:sldSz cx="9144000" cy="5143500"/>
  <p:notesSz cx="68580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311760" y="744480"/>
            <a:ext cx="8520120" cy="20523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 fontScale="92500" lnSpcReduction="9999"/>
          </a:bodyPr>
          <a:lstStyle>
            <a:lvl1pPr indent="0" algn="l">
              <a:buNone/>
              <a:defRPr lang="ru-RU" sz="5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ru-RU" sz="5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  <a:endParaRPr lang="ru-RU" sz="5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ru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74F69CE0-F9F2-4DF4-91F3-E6869D463E40}" type="slidenum">
              <a:rPr lang="ru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&lt;номер&gt;</a:t>
            </a:fld>
            <a:endParaRPr lang="ru-RU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</a:t>
            </a: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структуры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</a:t>
            </a: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уровень </a:t>
            </a: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структуры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IG_NUMBER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 hasCustomPrompt="1"/>
          </p:nvPr>
        </p:nvSpPr>
        <p:spPr>
          <a:xfrm>
            <a:off x="311760" y="1106280"/>
            <a:ext cx="8520120" cy="19630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 lnSpcReduction="9999"/>
          </a:bodyPr>
          <a:lstStyle>
            <a:lvl1pPr indent="0" algn="ctr">
              <a:lnSpc>
                <a:spcPct val="100000"/>
              </a:lnSpc>
              <a:buNone/>
              <a:defRPr lang="ru-RU" sz="120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lang="ru-RU" sz="120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xx%</a:t>
            </a:r>
            <a:endParaRPr lang="ru-RU" sz="1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311760" y="3152160"/>
            <a:ext cx="8520120" cy="130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47500" lnSpcReduction="1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4308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1752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1752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1752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175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175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175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 type="sldNum" idx="2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ru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78040C79-E806-4D3A-9141-5622303AADF7}" type="slidenum">
              <a:rPr lang="ru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&lt;номер&gt;</a:t>
            </a:fld>
            <a:endParaRPr lang="ru-RU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sldNum" idx="3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ru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3043FEC3-077C-43A9-B80A-7CCA602D1D1C}" type="slidenum">
              <a:rPr lang="ru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&lt;номер&gt;</a:t>
            </a:fld>
            <a:endParaRPr lang="ru-RU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HEADER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311760" y="2151000"/>
            <a:ext cx="8520120" cy="841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 fontScale="77500" lnSpcReduction="19999"/>
          </a:bodyPr>
          <a:lstStyle>
            <a:lvl1pPr indent="0" algn="l">
              <a:buNone/>
              <a:defRPr lang="ru-RU" sz="3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ru-RU" sz="3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  <a:endParaRPr lang="ru-RU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sldNum" idx="4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ru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7C238588-FB9A-45B8-AD0E-A9E74B3EE4A9}" type="slidenum">
              <a:rPr lang="ru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&lt;номер&gt;</a:t>
            </a:fld>
            <a:endParaRPr lang="ru-RU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_AND_BODY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lnSpcReduction="9999"/>
          </a:bodyPr>
          <a:lstStyle>
            <a:lvl1pPr indent="0" algn="l">
              <a:buNone/>
              <a:def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  <a:endParaRPr lang="ru-RU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8520120" cy="3416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4308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1752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1752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1752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175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175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175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sldNum" idx="5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ru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5692A4D2-8191-4199-9DA1-D185CC0A1ACB}" type="slidenum">
              <a:rPr lang="ru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&lt;номер&gt;</a:t>
            </a:fld>
            <a:endParaRPr lang="ru-RU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_AND_TWO_COLUMNS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lnSpcReduction="9999"/>
          </a:bodyPr>
          <a:lstStyle>
            <a:lvl1pPr indent="0" algn="l">
              <a:buNone/>
              <a:def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  <a:endParaRPr lang="ru-RU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3999600" cy="3416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85000" lnSpcReduction="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1752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0492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0492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0492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049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049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049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body"/>
          </p:nvPr>
        </p:nvSpPr>
        <p:spPr>
          <a:xfrm>
            <a:off x="4832280" y="1152360"/>
            <a:ext cx="3999600" cy="3416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85000" lnSpcReduction="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1752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0492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0492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0492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049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049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049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sldNum" idx="6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ru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B7B631D6-BF8E-42F1-AEB3-6AE8609073C9}" type="slidenum">
              <a:rPr lang="ru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&lt;номер&gt;</a:t>
            </a:fld>
            <a:endParaRPr lang="ru-RU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_ONLY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lnSpcReduction="9999"/>
          </a:bodyPr>
          <a:lstStyle>
            <a:lvl1pPr indent="0" algn="l">
              <a:buNone/>
              <a:def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  <a:endParaRPr lang="ru-RU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sldNum" idx="7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ru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A02C67B5-4C22-41FB-B517-55FD123EDA2A}" type="slidenum">
              <a:rPr lang="ru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&lt;номер&gt;</a:t>
            </a:fld>
            <a:endParaRPr lang="ru-RU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ONE_COLUMN_TEX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311760" y="555480"/>
            <a:ext cx="2807640" cy="7552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 fontScale="62500" lnSpcReduction="19999"/>
          </a:bodyPr>
          <a:lstStyle>
            <a:lvl1pPr indent="0" algn="l">
              <a:buNone/>
              <a:def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body"/>
          </p:nvPr>
        </p:nvSpPr>
        <p:spPr>
          <a:xfrm>
            <a:off x="311760" y="1389600"/>
            <a:ext cx="2807640" cy="31791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25000" lnSpcReduction="1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1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1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0492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0492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0492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0492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049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049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049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sldNum" idx="8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ru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200A0DEA-A1F2-46B6-BCBC-8746CA2B55C0}" type="slidenum">
              <a:rPr lang="ru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&lt;номер&gt;</a:t>
            </a:fld>
            <a:endParaRPr lang="ru-RU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IN_POI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90320" y="450000"/>
            <a:ext cx="6367320" cy="409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l">
              <a:buNone/>
              <a:defRPr lang="ru-RU" sz="4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ru-RU" sz="4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  <a:endParaRPr lang="ru-RU" sz="4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sldNum" idx="9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ru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9A837BE5-264C-4412-A375-FB8064B2F52B}" type="slidenum">
              <a:rPr lang="ru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&lt;номер&gt;</a:t>
            </a:fld>
            <a:endParaRPr lang="ru-RU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TITLE_AND_DESCRIPTION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36;p9"/>
          <p:cNvSpPr/>
          <p:nvPr/>
        </p:nvSpPr>
        <p:spPr>
          <a:xfrm>
            <a:off x="4572000" y="0"/>
            <a:ext cx="4571640" cy="514332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265680" y="1233000"/>
            <a:ext cx="4044960" cy="1482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 fontScale="77500" lnSpcReduction="19999"/>
          </a:bodyPr>
          <a:lstStyle>
            <a:lvl1pPr indent="0" algn="l">
              <a:buNone/>
              <a:defRPr lang="ru-RU" sz="4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ru-RU" sz="4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  <a:endParaRPr lang="ru-RU" sz="4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939560" y="723960"/>
            <a:ext cx="3836520" cy="36946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 fontScale="77500" lnSpcReduction="1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4308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1752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1752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1752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175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175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175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sldNum" idx="10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ru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8F97F62D-32D8-419D-BB54-12FE41F1FE32}" type="slidenum">
              <a:rPr lang="ru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&lt;номер&gt;</a:t>
            </a:fld>
            <a:endParaRPr lang="ru-RU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APTION_ONLY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body"/>
          </p:nvPr>
        </p:nvSpPr>
        <p:spPr>
          <a:xfrm>
            <a:off x="311760" y="4230720"/>
            <a:ext cx="5998320" cy="6048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 fontScale="25000" lnSpcReduction="1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2286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1752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1752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1752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175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175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175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sldNum" idx="11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ru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A12ACF99-3569-4FBE-A2BE-E8F4C75BFF54}" type="slidenum">
              <a:rPr lang="ru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&lt;номер&gt;</a:t>
            </a:fld>
            <a:endParaRPr lang="ru-RU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5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slideLayout" Target="../slideLayouts/slideLayout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311760" y="744480"/>
            <a:ext cx="8520120" cy="20523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" sz="368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A/B-тест на обновление списка рекламы от партнеров</a:t>
            </a:r>
            <a:endParaRPr lang="ru-RU" sz="36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subTitle"/>
          </p:nvPr>
        </p:nvSpPr>
        <p:spPr>
          <a:xfrm>
            <a:off x="311760" y="2834280"/>
            <a:ext cx="8520120" cy="7923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" sz="28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Mobile/Desktop с 01.01.26 по 14.01.26</a:t>
            </a:r>
            <a:endParaRPr lang="ru-RU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311760" y="24048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" sz="172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Общая информация об эксперименте</a:t>
            </a:r>
            <a:endParaRPr lang="ru-RU" sz="17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/>
          </p:nvPr>
        </p:nvSpPr>
        <p:spPr>
          <a:xfrm>
            <a:off x="311760" y="730440"/>
            <a:ext cx="8596800" cy="3416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indent="0" algn="l">
              <a:lnSpc>
                <a:spcPct val="105000"/>
              </a:lnSpc>
              <a:buNone/>
              <a:tabLst>
                <a:tab pos="0" algn="l"/>
              </a:tabLst>
            </a:pPr>
            <a:r>
              <a:rPr lang="ru" sz="129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Бизнес импакт: Увеличение прибыли</a:t>
            </a:r>
            <a:endParaRPr lang="ru-RU" sz="12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5000"/>
              </a:lnSpc>
              <a:spcBef>
                <a:spcPts val="1199"/>
              </a:spcBef>
              <a:buNone/>
              <a:tabLst>
                <a:tab pos="0" algn="l"/>
              </a:tabLst>
            </a:pPr>
            <a:r>
              <a:rPr lang="ru" sz="129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Продуктовая гипотеза:</a:t>
            </a:r>
            <a:endParaRPr lang="ru-RU" sz="12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5000"/>
              </a:lnSpc>
              <a:spcBef>
                <a:spcPts val="1199"/>
              </a:spcBef>
              <a:buNone/>
              <a:tabLst>
                <a:tab pos="0" algn="l"/>
              </a:tabLst>
            </a:pPr>
            <a:r>
              <a:rPr lang="ru" sz="129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Размещение 4 платных элементов над 1 органическим увеличит Paid CTR на 6.4%, так как пользователи кликают первое, что видят, не пролистывая.</a:t>
            </a:r>
            <a:endParaRPr lang="ru-RU" sz="12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5000"/>
              </a:lnSpc>
              <a:spcBef>
                <a:spcPts val="1199"/>
              </a:spcBef>
              <a:buNone/>
              <a:tabLst>
                <a:tab pos="0" algn="l"/>
              </a:tabLst>
            </a:pPr>
            <a:r>
              <a:rPr lang="ru" sz="129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Метрики: Paid CTR, paid clicks, количество просмотров за сессию</a:t>
            </a:r>
            <a:endParaRPr lang="ru-RU" sz="12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5000"/>
              </a:lnSpc>
              <a:spcBef>
                <a:spcPts val="1199"/>
              </a:spcBef>
              <a:buNone/>
              <a:tabLst>
                <a:tab pos="0" algn="l"/>
              </a:tabLst>
            </a:pPr>
            <a:r>
              <a:rPr lang="ru" sz="129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Описание: </a:t>
            </a:r>
            <a:endParaRPr lang="ru-RU" sz="12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5000"/>
              </a:lnSpc>
              <a:spcBef>
                <a:spcPts val="1199"/>
              </a:spcBef>
              <a:buNone/>
              <a:tabLst>
                <a:tab pos="0" algn="l"/>
              </a:tabLst>
            </a:pPr>
            <a:r>
              <a:rPr lang="ru" sz="129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Данные были получены из теста, проведенного на платформе Marketpele Feed, которая помогает издательствам зарабатывать на рекламе. Список объявлений Marketpele содержит "органические" и "платные" элементы. Платные элементы - это рекламные объявления, при нажатии на них пользователи переходят на страницу рекламодателя и приносят доход Marketpele. Органические элементы - это контент издателя, при нажатии на них пользователи переходят на другую статью от того же издателя.</a:t>
            </a:r>
            <a:endParaRPr lang="ru-RU" sz="12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5000"/>
              </a:lnSpc>
              <a:spcBef>
                <a:spcPts val="1199"/>
              </a:spcBef>
              <a:buNone/>
              <a:tabLst>
                <a:tab pos="0" algn="l"/>
              </a:tabLst>
            </a:pPr>
            <a:r>
              <a:rPr lang="ru" sz="129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В упомянутом выше тесте у группы A была лента, составленная из "органического" элемента наверху списка, и с четырьмя "платными" элементами внизу списка.</a:t>
            </a:r>
            <a:endParaRPr lang="ru-RU" sz="12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5000"/>
              </a:lnSpc>
              <a:spcBef>
                <a:spcPts val="1199"/>
              </a:spcBef>
              <a:spcAft>
                <a:spcPts val="1199"/>
              </a:spcAft>
              <a:buNone/>
              <a:tabLst>
                <a:tab pos="0" algn="l"/>
              </a:tabLst>
            </a:pPr>
            <a:r>
              <a:rPr lang="ru" sz="129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У группы B была лента с четырьмя "платными" элементами наверху списка, за ними следовал один "органический" элемент.</a:t>
            </a:r>
            <a:endParaRPr lang="ru-RU" sz="12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" sz="172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Выводы</a:t>
            </a:r>
            <a:endParaRPr lang="ru-RU" sz="17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/>
          </p:nvPr>
        </p:nvSpPr>
        <p:spPr>
          <a:xfrm>
            <a:off x="540000" y="1260000"/>
            <a:ext cx="2340000" cy="324000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txBody>
          <a:bodyPr lIns="91440" tIns="91440" rIns="91440" bIns="91440" anchor="t">
            <a:normAutofit/>
          </a:bodyPr>
          <a:p>
            <a:pPr indent="0" algn="l">
              <a:lnSpc>
                <a:spcPct val="115000"/>
              </a:lnSpc>
              <a:spcAft>
                <a:spcPts val="1199"/>
              </a:spcAft>
              <a:buNone/>
              <a:tabLst>
                <a:tab pos="0" algn="l"/>
              </a:tabLst>
            </a:pPr>
            <a:r>
              <a:rPr lang="ru" sz="1290" b="0" u="none" strike="noStrike">
                <a:solidFill>
                  <a:srgbClr val="666666"/>
                </a:solidFill>
                <a:effectLst/>
                <a:uFillTx/>
                <a:latin typeface="Arial"/>
                <a:ea typeface="Arial"/>
              </a:rPr>
              <a:t>Изменение не рекомендуется к внедрению. Рост Paid CTR на 15.8% (p &lt; 0.001) сопровождается падением Organic CTR на 24.7% (p &lt; 0.001), при этом Revenue не изменился (p = 0.985). Рост целевой метрики достигнут за счёт ухудшения других показателей и не приводит к росту дохода.</a:t>
            </a:r>
            <a:endParaRPr lang="ru-RU" sz="1290" b="0" u="none" strike="noStrike">
              <a:solidFill>
                <a:srgbClr val="666666"/>
              </a:solidFill>
              <a:effectLst/>
              <a:uFillTx/>
              <a:latin typeface="Arial"/>
            </a:endParaRPr>
          </a:p>
        </p:txBody>
      </p:sp>
      <p:pic>
        <p:nvPicPr>
          <p:cNvPr id="37" name="Google Shape;69;p15"/>
          <p:cNvPicPr/>
          <p:nvPr/>
        </p:nvPicPr>
        <p:blipFill>
          <a:blip r:embed="rId1"/>
          <a:stretch/>
        </p:blipFill>
        <p:spPr>
          <a:xfrm>
            <a:off x="4089600" y="348480"/>
            <a:ext cx="4190400" cy="3230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8" name=""/>
          <p:cNvPicPr/>
          <p:nvPr/>
        </p:nvPicPr>
        <p:blipFill>
          <a:blip r:embed="rId2"/>
          <a:stretch/>
        </p:blipFill>
        <p:spPr>
          <a:xfrm>
            <a:off x="3060000" y="3814560"/>
            <a:ext cx="5781240" cy="6854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" sz="172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Обоснование выводов</a:t>
            </a:r>
            <a:endParaRPr lang="ru-RU" sz="17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180000" y="1017360"/>
            <a:ext cx="5580000" cy="29426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p>
            <a:pPr marL="457200" indent="-308520" algn="l">
              <a:lnSpc>
                <a:spcPct val="115000"/>
              </a:lnSpc>
              <a:buClr>
                <a:srgbClr val="595959"/>
              </a:buClr>
              <a:buFont typeface="Arial"/>
              <a:buAutoNum type="arabicPeriod"/>
            </a:pPr>
            <a:r>
              <a:rPr lang="ru" sz="129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Распределение ctr_paid в обеих группах имеет правостороннюю асимметрию (не соответствует нормальному). Для сравнения групп использовался непараметрический U-тест Манна-Уитни, который не требует нормальности распределения и устойчив к выбросам.</a:t>
            </a:r>
            <a:endParaRPr lang="ru-RU" sz="12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08520" algn="l">
              <a:lnSpc>
                <a:spcPct val="115000"/>
              </a:lnSpc>
              <a:buClr>
                <a:srgbClr val="595959"/>
              </a:buClr>
              <a:buFont typeface="Arial"/>
              <a:buAutoNum type="arabicPeriod"/>
            </a:pPr>
            <a:r>
              <a:rPr lang="ru" sz="129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P-value значительно меньше уровня значимости (α = 0.05). Отвергаем нулевую гипотезу: разница статистически значима.</a:t>
            </a:r>
            <a:endParaRPr lang="ru-RU" sz="12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08520" algn="l">
              <a:lnSpc>
                <a:spcPct val="115000"/>
              </a:lnSpc>
              <a:buClr>
                <a:srgbClr val="595959"/>
              </a:buClr>
              <a:buFont typeface="Arial"/>
              <a:buAutoNum type="arabicPeriod"/>
            </a:pPr>
            <a:r>
              <a:rPr lang="ru" sz="129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Проверка дополнительных метрик выявила негативный эффект: Organic CTR снизился на 24.7% (p &lt; 0.001). По метрикам Revenue (p = 0.985) и Pages Viewed (p = 0.819) значимых изменений нет.</a:t>
            </a:r>
            <a:endParaRPr lang="ru-RU" sz="12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1" name="Google Shape;76;p16"/>
          <p:cNvPicPr/>
          <p:nvPr/>
        </p:nvPicPr>
        <p:blipFill>
          <a:blip r:embed="rId1"/>
          <a:stretch/>
        </p:blipFill>
        <p:spPr>
          <a:xfrm>
            <a:off x="567360" y="3960000"/>
            <a:ext cx="4832640" cy="658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2" name="Google Shape;77;p16"/>
          <p:cNvPicPr/>
          <p:nvPr/>
        </p:nvPicPr>
        <p:blipFill>
          <a:blip r:embed="rId2"/>
          <a:stretch/>
        </p:blipFill>
        <p:spPr>
          <a:xfrm>
            <a:off x="5940000" y="269280"/>
            <a:ext cx="3101400" cy="2250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3" name="Google Shape;78;p16"/>
          <p:cNvPicPr/>
          <p:nvPr/>
        </p:nvPicPr>
        <p:blipFill>
          <a:blip r:embed="rId3"/>
          <a:stretch/>
        </p:blipFill>
        <p:spPr>
          <a:xfrm>
            <a:off x="5940000" y="2571840"/>
            <a:ext cx="3134160" cy="22507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</TotalTime>
  <Application>LibreOffice/26.2.6.2$Windows_X86_64 LibreOffice_project/ad5cf9fd4989cacf0bca866ebefc0ec8926cb0b2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ru-RU</dc:language>
  <cp:lastModifiedBy/>
  <dcterms:modified xsi:type="dcterms:W3CDTF">2026-10-07T21:44:17Z</dcterms:modified>
  <cp:revision>1</cp:revision>
  <dc:subject/>
  <dc:title/>
</cp:coreProperties>
</file>